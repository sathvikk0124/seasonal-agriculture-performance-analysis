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5" d="100"/>
          <a:sy n="85" d="100"/>
        </p:scale>
        <p:origin x="494"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57619" y="3551103"/>
            <a:ext cx="9394051" cy="861497"/>
          </a:xfrm>
        </p:spPr>
        <p:txBody>
          <a:bodyPr vert="horz" lIns="91440" tIns="45720" rIns="91440" bIns="45720" rtlCol="0" anchor="t">
            <a:normAutofit/>
          </a:bodyPr>
          <a:lstStyle/>
          <a:p>
            <a:r>
              <a:rPr lang="en-US" b="0" dirty="0">
                <a:solidFill>
                  <a:schemeClr val="tx1"/>
                </a:solidFill>
              </a:rPr>
              <a:t>Student Name: Sathvik Reddy Koduru </a:t>
            </a:r>
            <a:endParaRPr lang="en-IN" b="0" dirty="0">
              <a:solidFill>
                <a:schemeClr val="tx1"/>
              </a:solidFill>
            </a:endParaRPr>
          </a:p>
          <a:p>
            <a:r>
              <a:rPr lang="en-US" b="0" dirty="0">
                <a:solidFill>
                  <a:schemeClr val="tx1"/>
                </a:solidFill>
              </a:rPr>
              <a:t>College Name- East Point College of Engineering and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57619" y="2628287"/>
            <a:ext cx="8493322" cy="861497"/>
          </a:xfrm>
        </p:spPr>
        <p:txBody>
          <a:bodyPr>
            <a:normAutofit fontScale="90000"/>
          </a:bodyPr>
          <a:lstStyle/>
          <a:p>
            <a:r>
              <a:rPr lang="en-GB" sz="3200" dirty="0"/>
              <a:t>Project Title - </a:t>
            </a:r>
            <a:r>
              <a:rPr lang="en-GB" sz="3200" dirty="0" err="1"/>
              <a:t>Seasonal_Agriculture_Performance</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568900" cy="369332"/>
          </a:xfrm>
          <a:prstGeom prst="rect">
            <a:avLst/>
          </a:prstGeom>
          <a:noFill/>
        </p:spPr>
        <p:txBody>
          <a:bodyPr wrap="square" rtlCol="0">
            <a:spAutoFit/>
          </a:bodyPr>
          <a:lstStyle/>
          <a:p>
            <a:r>
              <a:rPr lang="en-US" b="1" dirty="0"/>
              <a:t>AICTE STU ID : STU65b8f5a6d169a1706620326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ctrTitle"/>
          </p:nvPr>
        </p:nvSpPr>
        <p:spPr>
          <a:xfrm>
            <a:off x="816784" y="63966"/>
            <a:ext cx="7766936" cy="1646302"/>
          </a:xfrm>
        </p:spPr>
        <p:txBody>
          <a:bodyPr>
            <a:normAutofit fontScale="90000"/>
          </a:bodyPr>
          <a:lstStyle/>
          <a:p>
            <a:pPr algn="l"/>
            <a:r>
              <a:rPr lang="en-GB" dirty="0"/>
              <a:t>Project Description</a:t>
            </a:r>
            <a:br>
              <a:rPr lang="en-GB" dirty="0"/>
            </a:br>
            <a:endParaRPr lang="en-IN" dirty="0"/>
          </a:p>
        </p:txBody>
      </p:sp>
      <p:sp>
        <p:nvSpPr>
          <p:cNvPr id="4" name="Subtitle 3">
            <a:extLst>
              <a:ext uri="{FF2B5EF4-FFF2-40B4-BE49-F238E27FC236}">
                <a16:creationId xmlns:a16="http://schemas.microsoft.com/office/drawing/2014/main" id="{F1709A6C-C182-4FBD-80ED-BEA8150E4DF1}"/>
              </a:ext>
            </a:extLst>
          </p:cNvPr>
          <p:cNvSpPr>
            <a:spLocks noGrp="1"/>
          </p:cNvSpPr>
          <p:nvPr>
            <p:ph type="subTitle" idx="1"/>
          </p:nvPr>
        </p:nvSpPr>
        <p:spPr>
          <a:xfrm>
            <a:off x="816784" y="1182615"/>
            <a:ext cx="7766936" cy="5523938"/>
          </a:xfrm>
        </p:spPr>
        <p:txBody>
          <a:bodyPr>
            <a:normAutofit fontScale="85000" lnSpcReduction="10000"/>
          </a:bodyPr>
          <a:lstStyle/>
          <a:p>
            <a:pPr marL="285750" indent="-285750" algn="just">
              <a:buFont typeface="Arial" panose="020B0604020202020204" pitchFamily="34" charset="0"/>
              <a:buChar char="•"/>
            </a:pPr>
            <a:r>
              <a:rPr lang="en-IN" b="1" dirty="0"/>
              <a:t>Seasonal Agriculture Performance Analysis</a:t>
            </a:r>
            <a:r>
              <a:rPr lang="en-IN" dirty="0"/>
              <a:t> is a data analytics project that </a:t>
            </a:r>
            <a:r>
              <a:rPr lang="en-IN" dirty="0" err="1"/>
              <a:t>analyzes</a:t>
            </a:r>
            <a:r>
              <a:rPr lang="en-IN" dirty="0"/>
              <a:t> agricultural activities and performance across different seasons, geographical regions, crops, farming practices, environmental conditions, resource usage, and economic factors. The project uses an agricultural dataset containing information such as rainfall, temperature, humidity, soil conditions, irrigation methods, fertilizer and pesticide usage, crop yield, production, market prices, costs, revenue, profit, water consumption, and disease/pest risk.</a:t>
            </a:r>
          </a:p>
          <a:p>
            <a:pPr marL="285750" indent="-285750" algn="just">
              <a:buFont typeface="Arial" panose="020B0604020202020204" pitchFamily="34" charset="0"/>
              <a:buChar char="•"/>
            </a:pPr>
            <a:r>
              <a:rPr lang="en-IN" dirty="0"/>
              <a:t>The project focuses on identifying how agricultural performance varies across </a:t>
            </a:r>
            <a:r>
              <a:rPr lang="en-IN" b="1" dirty="0"/>
              <a:t>Kharif, Rabi, and Zaid seasons</a:t>
            </a:r>
            <a:r>
              <a:rPr lang="en-IN" dirty="0"/>
              <a:t> and understanding the factors associated with differences in crop yield, profitability, water efficiency, and disease/pest risk. The data is first explored, cleaned, and validated to ensure reliable analysis. Exploratory data analysis and visualizations are then used to compare seasonal, crop-wise, state-wise, district-wise, and irrigation-wise performance.</a:t>
            </a:r>
          </a:p>
          <a:p>
            <a:pPr marL="285750" indent="-285750" algn="just">
              <a:buFont typeface="Arial" panose="020B0604020202020204" pitchFamily="34" charset="0"/>
              <a:buChar char="•"/>
            </a:pPr>
            <a:r>
              <a:rPr lang="en-IN" dirty="0"/>
              <a:t>Statistical techniques such as </a:t>
            </a:r>
            <a:r>
              <a:rPr lang="en-IN" b="1" dirty="0"/>
              <a:t>correlation analysis, ANOVA, and Chi-square testing</a:t>
            </a:r>
            <a:r>
              <a:rPr lang="en-IN" dirty="0"/>
              <a:t> are used to identify significant relationships and differences within the dataset. The project also investigates unusual patterns, such as farms with high yields but low profits or high water usage with low water efficiency.</a:t>
            </a:r>
          </a:p>
          <a:p>
            <a:pPr marL="285750" indent="-285750" algn="just">
              <a:buFont typeface="Arial" panose="020B0604020202020204" pitchFamily="34" charset="0"/>
              <a:buChar char="•"/>
            </a:pPr>
            <a:r>
              <a:rPr lang="en-IN" dirty="0"/>
              <a:t>The final analysis provides </a:t>
            </a:r>
            <a:r>
              <a:rPr lang="en-IN" b="1" dirty="0"/>
              <a:t>evidence-based insights and recommendations for seasonal planning</a:t>
            </a:r>
            <a:r>
              <a:rPr lang="en-IN" dirty="0"/>
              <a:t>, including crop selection, irrigation and water management, resource utilization, disease and pest management, and cost optimization. The project is implemented using </a:t>
            </a:r>
            <a:r>
              <a:rPr lang="en-IN" b="1" dirty="0"/>
              <a:t>Python, Pandas, NumPy, Matplotlib, Seaborn, SciPy, and </a:t>
            </a:r>
            <a:r>
              <a:rPr lang="en-IN" b="1" dirty="0" err="1"/>
              <a:t>Jupyter</a:t>
            </a:r>
            <a:r>
              <a:rPr lang="en-IN" b="1" dirty="0"/>
              <a:t> Notebook</a:t>
            </a:r>
            <a:r>
              <a:rPr lang="en-IN" dirty="0"/>
              <a:t>.</a:t>
            </a:r>
          </a:p>
          <a:p>
            <a:pPr algn="just"/>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47500" lnSpcReduction="20000"/>
          </a:bodyPr>
          <a:lstStyle/>
          <a:p>
            <a:pPr algn="just">
              <a:lnSpc>
                <a:spcPct val="150000"/>
              </a:lnSpc>
            </a:pPr>
            <a:r>
              <a:rPr lang="en-IN" sz="3600" dirty="0"/>
              <a:t>The primary end users of this project are </a:t>
            </a:r>
            <a:r>
              <a:rPr lang="en-IN" sz="3600" b="1" dirty="0"/>
              <a:t>farmers, agricultural planners, agricultural researchers, agronomists, and policymakers</a:t>
            </a:r>
            <a:r>
              <a:rPr lang="en-IN" sz="3600" dirty="0"/>
              <a:t>. Farmers can use the insights to support seasonal crop selection, irrigation and resource management, and improve productivity and profitability. Agricultural planners and policymakers can use the analysis to understand regional and seasonal agricultural patterns and support data-driven planning and resource allocation. Researchers and agronomists can use the findings to study relationships between environmental conditions, farming practices, crop performance, and economic outcomes.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22729" y="1432560"/>
            <a:ext cx="9095591" cy="5243448"/>
          </a:xfrm>
        </p:spPr>
        <p:txBody>
          <a:bodyPr/>
          <a:lstStyle/>
          <a:p>
            <a:r>
              <a:rPr lang="en-IN" b="1" dirty="0"/>
              <a:t>Programming Language:</a:t>
            </a:r>
            <a:r>
              <a:rPr lang="en-IN" dirty="0"/>
              <a:t> Python</a:t>
            </a:r>
          </a:p>
          <a:p>
            <a:r>
              <a:rPr lang="en-IN" b="1" dirty="0"/>
              <a:t>Libraries &amp; Tools:</a:t>
            </a:r>
            <a:r>
              <a:rPr lang="en-IN" dirty="0"/>
              <a:t> Pandas, NumPy, Matplotlib, Seaborn, SciPy</a:t>
            </a:r>
          </a:p>
          <a:p>
            <a:r>
              <a:rPr lang="en-IN" b="1" dirty="0"/>
              <a:t>Development Environment:</a:t>
            </a:r>
            <a:r>
              <a:rPr lang="en-IN" dirty="0"/>
              <a:t> </a:t>
            </a:r>
            <a:r>
              <a:rPr lang="en-IN" dirty="0" err="1"/>
              <a:t>Jupyter</a:t>
            </a:r>
            <a:r>
              <a:rPr lang="en-IN" dirty="0"/>
              <a:t> Notebook</a:t>
            </a:r>
          </a:p>
          <a:p>
            <a:r>
              <a:rPr lang="en-IN" b="1" dirty="0"/>
              <a:t>Techniques:</a:t>
            </a:r>
            <a:r>
              <a:rPr lang="en-IN" dirty="0"/>
              <a:t> Data Cleaning, Exploratory Data Analysis (EDA), Data Visualization, Correlation Analysis, ANOVA, Chi-Square Testing, Statistical Analysis, and Data Interpretation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ctrTitle"/>
          </p:nvPr>
        </p:nvSpPr>
        <p:spPr>
          <a:xfrm>
            <a:off x="834714" y="125306"/>
            <a:ext cx="7766936" cy="975942"/>
          </a:xfrm>
        </p:spPr>
        <p:txBody>
          <a:bodyPr>
            <a:normAutofit/>
          </a:bodyPr>
          <a:lstStyle/>
          <a:p>
            <a:pPr algn="l"/>
            <a:r>
              <a:rPr lang="en-GB" dirty="0"/>
              <a:t>RESULTS </a:t>
            </a:r>
            <a:endParaRPr lang="en-IN" dirty="0"/>
          </a:p>
        </p:txBody>
      </p:sp>
      <p:sp>
        <p:nvSpPr>
          <p:cNvPr id="2" name="Subtitle 1">
            <a:extLst>
              <a:ext uri="{FF2B5EF4-FFF2-40B4-BE49-F238E27FC236}">
                <a16:creationId xmlns:a16="http://schemas.microsoft.com/office/drawing/2014/main" id="{B33A3524-7E98-68ED-3B53-0E9B5853A11B}"/>
              </a:ext>
            </a:extLst>
          </p:cNvPr>
          <p:cNvSpPr>
            <a:spLocks noGrp="1"/>
          </p:cNvSpPr>
          <p:nvPr>
            <p:ph type="subTitle" idx="1"/>
          </p:nvPr>
        </p:nvSpPr>
        <p:spPr>
          <a:xfrm>
            <a:off x="675957" y="1200056"/>
            <a:ext cx="7766936" cy="5200744"/>
          </a:xfrm>
        </p:spPr>
        <p:txBody>
          <a:bodyPr>
            <a:noAutofit/>
          </a:bodyPr>
          <a:lstStyle/>
          <a:p>
            <a:pPr marL="285750" indent="-285750" algn="just">
              <a:buFont typeface="Arial" panose="020B0604020202020204" pitchFamily="34" charset="0"/>
              <a:buChar char="•"/>
            </a:pPr>
            <a:r>
              <a:rPr lang="en-IN" sz="2000" dirty="0"/>
              <a:t>The analysis identified clear variations in agricultural performance across </a:t>
            </a:r>
            <a:r>
              <a:rPr lang="en-IN" sz="2000" b="1" dirty="0"/>
              <a:t>Kharif, Rabi, and Zaid seasons</a:t>
            </a:r>
            <a:r>
              <a:rPr lang="en-IN" sz="2000" dirty="0"/>
              <a:t>, as well as across different crops, states, districts, and irrigation methods. Seasonal comparisons revealed differences in </a:t>
            </a:r>
            <a:r>
              <a:rPr lang="en-IN" sz="2000" b="1" dirty="0"/>
              <a:t>crop yield, profitability, water efficiency, resource consumption, and disease/pest risk</a:t>
            </a:r>
            <a:r>
              <a:rPr lang="en-IN" sz="2000" dirty="0"/>
              <a:t>. Statistical analysis using correlation analysis, ANOVA, and Chi-square testing helped identify important relationships and differences within the dataset.</a:t>
            </a:r>
          </a:p>
          <a:p>
            <a:pPr marL="285750" indent="-285750" algn="just">
              <a:buFont typeface="Arial" panose="020B0604020202020204" pitchFamily="34" charset="0"/>
              <a:buChar char="•"/>
            </a:pPr>
            <a:r>
              <a:rPr lang="en-IN" sz="2000" dirty="0"/>
              <a:t>The project also identified </a:t>
            </a:r>
            <a:r>
              <a:rPr lang="en-IN" sz="2000" b="1" dirty="0"/>
              <a:t>high-performing crop-season combinations, differences in irrigation efficiency, resource-intensive farming patterns, and unusual cases such as high-yield but low-profit farms and high water usage with low water efficiency</a:t>
            </a:r>
            <a:r>
              <a:rPr lang="en-IN" sz="2000" dirty="0"/>
              <a:t>. These findings provide evidence-based insights that can support better </a:t>
            </a:r>
            <a:r>
              <a:rPr lang="en-IN" sz="2000" b="1" dirty="0"/>
              <a:t>crop selection, seasonal planning, irrigation and water management, resource utilization, disease-risk management, and cost optimization</a:t>
            </a:r>
            <a:r>
              <a:rPr lang="en-IN" sz="2000" dirty="0"/>
              <a:t>.</a:t>
            </a:r>
          </a:p>
          <a:p>
            <a:pPr marL="285750" indent="-285750" algn="just">
              <a:buFont typeface="Arial" panose="020B0604020202020204" pitchFamily="34" charset="0"/>
              <a:buChar char="•"/>
            </a:pPr>
            <a:endParaRPr lang="en-IN" sz="20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0162EC1F-85A8-7516-586B-6A9F2C22F81C}"/>
              </a:ext>
            </a:extLst>
          </p:cNvPr>
          <p:cNvPicPr>
            <a:picLocks noChangeAspect="1"/>
          </p:cNvPicPr>
          <p:nvPr/>
        </p:nvPicPr>
        <p:blipFill>
          <a:blip r:embed="rId3"/>
          <a:stretch>
            <a:fillRect/>
          </a:stretch>
        </p:blipFill>
        <p:spPr>
          <a:xfrm>
            <a:off x="95378" y="1275371"/>
            <a:ext cx="9174128" cy="511646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83044752-196F-F8F2-67D1-2F154800F655}"/>
              </a:ext>
            </a:extLst>
          </p:cNvPr>
          <p:cNvPicPr>
            <a:picLocks noChangeAspect="1"/>
          </p:cNvPicPr>
          <p:nvPr/>
        </p:nvPicPr>
        <p:blipFill>
          <a:blip r:embed="rId3"/>
          <a:stretch>
            <a:fillRect/>
          </a:stretch>
        </p:blipFill>
        <p:spPr>
          <a:xfrm>
            <a:off x="407208" y="1201586"/>
            <a:ext cx="9350188" cy="459857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DB698BD3-77BE-C806-2416-9714EFDFDB48}"/>
              </a:ext>
            </a:extLst>
          </p:cNvPr>
          <p:cNvPicPr>
            <a:picLocks noChangeAspect="1"/>
          </p:cNvPicPr>
          <p:nvPr/>
        </p:nvPicPr>
        <p:blipFill>
          <a:blip r:embed="rId3"/>
          <a:stretch>
            <a:fillRect/>
          </a:stretch>
        </p:blipFill>
        <p:spPr>
          <a:xfrm>
            <a:off x="116541" y="1341292"/>
            <a:ext cx="9852211" cy="480849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2B67BFB4-AABC-E5B8-4174-55F5E2658292}"/>
              </a:ext>
            </a:extLst>
          </p:cNvPr>
          <p:cNvPicPr>
            <a:picLocks noChangeAspect="1"/>
          </p:cNvPicPr>
          <p:nvPr/>
        </p:nvPicPr>
        <p:blipFill>
          <a:blip r:embed="rId3"/>
          <a:stretch>
            <a:fillRect/>
          </a:stretch>
        </p:blipFill>
        <p:spPr>
          <a:xfrm>
            <a:off x="412376" y="1275371"/>
            <a:ext cx="9547411" cy="491027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A3C87E3-08F0-5B43-4A4B-05EE25BCC6E6}"/>
              </a:ext>
            </a:extLst>
          </p:cNvPr>
          <p:cNvSpPr>
            <a:spLocks noGrp="1"/>
          </p:cNvSpPr>
          <p:nvPr>
            <p:ph type="title"/>
          </p:nvPr>
        </p:nvSpPr>
        <p:spPr>
          <a:xfrm>
            <a:off x="677334" y="609600"/>
            <a:ext cx="8596668" cy="770965"/>
          </a:xfrm>
        </p:spPr>
        <p:txBody>
          <a:bodyPr>
            <a:normAutofit fontScale="90000"/>
          </a:bodyPr>
          <a:lstStyle/>
          <a:p>
            <a:r>
              <a:rPr lang="en-GB" sz="4800" dirty="0">
                <a:solidFill>
                  <a:schemeClr val="tx1"/>
                </a:solidFill>
              </a:rPr>
              <a:t>RESULTS</a:t>
            </a:r>
            <a:r>
              <a:rPr lang="en-GB" dirty="0"/>
              <a:t> </a:t>
            </a:r>
            <a:endParaRPr lang="en-IN" dirty="0">
              <a:solidFill>
                <a:schemeClr val="tx1"/>
              </a:solidFill>
            </a:endParaRPr>
          </a:p>
        </p:txBody>
      </p:sp>
      <p:pic>
        <p:nvPicPr>
          <p:cNvPr id="11" name="Picture 10">
            <a:extLst>
              <a:ext uri="{FF2B5EF4-FFF2-40B4-BE49-F238E27FC236}">
                <a16:creationId xmlns:a16="http://schemas.microsoft.com/office/drawing/2014/main" id="{DEF87E14-7868-E53F-20F5-DDF9798FA437}"/>
              </a:ext>
            </a:extLst>
          </p:cNvPr>
          <p:cNvPicPr>
            <a:picLocks noChangeAspect="1"/>
          </p:cNvPicPr>
          <p:nvPr/>
        </p:nvPicPr>
        <p:blipFill>
          <a:blip r:embed="rId2"/>
          <a:stretch>
            <a:fillRect/>
          </a:stretch>
        </p:blipFill>
        <p:spPr>
          <a:xfrm>
            <a:off x="233082" y="1280815"/>
            <a:ext cx="9726706" cy="5478573"/>
          </a:xfrm>
          <a:prstGeom prst="rect">
            <a:avLst/>
          </a:prstGeom>
        </p:spPr>
      </p:pic>
    </p:spTree>
    <p:extLst>
      <p:ext uri="{BB962C8B-B14F-4D97-AF65-F5344CB8AC3E}">
        <p14:creationId xmlns:p14="http://schemas.microsoft.com/office/powerpoint/2010/main" val="714811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C0E03-5F40-F9ED-3FC0-3B507998BAA1}"/>
              </a:ext>
            </a:extLst>
          </p:cNvPr>
          <p:cNvSpPr>
            <a:spLocks noGrp="1"/>
          </p:cNvSpPr>
          <p:nvPr>
            <p:ph type="title"/>
          </p:nvPr>
        </p:nvSpPr>
        <p:spPr>
          <a:xfrm>
            <a:off x="677334" y="609600"/>
            <a:ext cx="8596668" cy="815788"/>
          </a:xfrm>
        </p:spPr>
        <p:txBody>
          <a:bodyPr>
            <a:normAutofit fontScale="90000"/>
          </a:bodyPr>
          <a:lstStyle/>
          <a:p>
            <a:r>
              <a:rPr lang="en-GB" sz="4800" dirty="0">
                <a:solidFill>
                  <a:schemeClr val="tx1"/>
                </a:solidFill>
              </a:rPr>
              <a:t>RESULTS</a:t>
            </a:r>
            <a:endParaRPr lang="en-IN" sz="4800" dirty="0"/>
          </a:p>
        </p:txBody>
      </p:sp>
      <p:sp>
        <p:nvSpPr>
          <p:cNvPr id="3" name="Slide Number Placeholder 2">
            <a:extLst>
              <a:ext uri="{FF2B5EF4-FFF2-40B4-BE49-F238E27FC236}">
                <a16:creationId xmlns:a16="http://schemas.microsoft.com/office/drawing/2014/main" id="{FFF49A68-6F86-49F5-E0EF-1FF4D93D6C69}"/>
              </a:ext>
            </a:extLst>
          </p:cNvPr>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5" name="Picture 4">
            <a:extLst>
              <a:ext uri="{FF2B5EF4-FFF2-40B4-BE49-F238E27FC236}">
                <a16:creationId xmlns:a16="http://schemas.microsoft.com/office/drawing/2014/main" id="{45839B9D-28C7-B972-8932-E001E3C2A11B}"/>
              </a:ext>
            </a:extLst>
          </p:cNvPr>
          <p:cNvPicPr>
            <a:picLocks noChangeAspect="1"/>
          </p:cNvPicPr>
          <p:nvPr/>
        </p:nvPicPr>
        <p:blipFill>
          <a:blip r:embed="rId2"/>
          <a:stretch>
            <a:fillRect/>
          </a:stretch>
        </p:blipFill>
        <p:spPr>
          <a:xfrm>
            <a:off x="677334" y="1568824"/>
            <a:ext cx="9147984" cy="5163670"/>
          </a:xfrm>
          <a:prstGeom prst="rect">
            <a:avLst/>
          </a:prstGeom>
        </p:spPr>
      </p:pic>
    </p:spTree>
    <p:extLst>
      <p:ext uri="{BB962C8B-B14F-4D97-AF65-F5344CB8AC3E}">
        <p14:creationId xmlns:p14="http://schemas.microsoft.com/office/powerpoint/2010/main" val="1751388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C8E35-6710-F7E9-4500-30B4AD99FEC9}"/>
              </a:ext>
            </a:extLst>
          </p:cNvPr>
          <p:cNvSpPr>
            <a:spLocks noGrp="1"/>
          </p:cNvSpPr>
          <p:nvPr>
            <p:ph type="title"/>
          </p:nvPr>
        </p:nvSpPr>
        <p:spPr>
          <a:xfrm>
            <a:off x="677334" y="609600"/>
            <a:ext cx="8596668" cy="735106"/>
          </a:xfrm>
        </p:spPr>
        <p:txBody>
          <a:bodyPr>
            <a:noAutofit/>
          </a:bodyPr>
          <a:lstStyle/>
          <a:p>
            <a:r>
              <a:rPr lang="en-GB" sz="4800" dirty="0">
                <a:solidFill>
                  <a:schemeClr val="tx1"/>
                </a:solidFill>
              </a:rPr>
              <a:t>RESULTS</a:t>
            </a:r>
            <a:endParaRPr lang="en-IN" sz="4800" dirty="0"/>
          </a:p>
        </p:txBody>
      </p:sp>
      <p:sp>
        <p:nvSpPr>
          <p:cNvPr id="3" name="Slide Number Placeholder 2">
            <a:extLst>
              <a:ext uri="{FF2B5EF4-FFF2-40B4-BE49-F238E27FC236}">
                <a16:creationId xmlns:a16="http://schemas.microsoft.com/office/drawing/2014/main" id="{C73DBB38-3E05-F068-1A7A-A8045A2ABCF4}"/>
              </a:ext>
            </a:extLst>
          </p:cNvPr>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5" name="Picture 4">
            <a:extLst>
              <a:ext uri="{FF2B5EF4-FFF2-40B4-BE49-F238E27FC236}">
                <a16:creationId xmlns:a16="http://schemas.microsoft.com/office/drawing/2014/main" id="{6E8DD545-54D1-AC86-7683-7B6A28E57261}"/>
              </a:ext>
            </a:extLst>
          </p:cNvPr>
          <p:cNvPicPr>
            <a:picLocks noChangeAspect="1"/>
          </p:cNvPicPr>
          <p:nvPr/>
        </p:nvPicPr>
        <p:blipFill>
          <a:blip r:embed="rId2"/>
          <a:stretch>
            <a:fillRect/>
          </a:stretch>
        </p:blipFill>
        <p:spPr>
          <a:xfrm>
            <a:off x="0" y="1313330"/>
            <a:ext cx="5755341" cy="5513294"/>
          </a:xfrm>
          <a:prstGeom prst="rect">
            <a:avLst/>
          </a:prstGeom>
        </p:spPr>
      </p:pic>
      <p:pic>
        <p:nvPicPr>
          <p:cNvPr id="7" name="Picture 6">
            <a:extLst>
              <a:ext uri="{FF2B5EF4-FFF2-40B4-BE49-F238E27FC236}">
                <a16:creationId xmlns:a16="http://schemas.microsoft.com/office/drawing/2014/main" id="{47DDE66D-8078-B28A-0DD6-ACF5690C5225}"/>
              </a:ext>
            </a:extLst>
          </p:cNvPr>
          <p:cNvPicPr>
            <a:picLocks noChangeAspect="1"/>
          </p:cNvPicPr>
          <p:nvPr/>
        </p:nvPicPr>
        <p:blipFill>
          <a:blip r:embed="rId3"/>
          <a:srcRect r="38739"/>
          <a:stretch>
            <a:fillRect/>
          </a:stretch>
        </p:blipFill>
        <p:spPr>
          <a:xfrm>
            <a:off x="6096000" y="1344706"/>
            <a:ext cx="6096000" cy="5513294"/>
          </a:xfrm>
          <a:prstGeom prst="rect">
            <a:avLst/>
          </a:prstGeom>
        </p:spPr>
      </p:pic>
    </p:spTree>
    <p:extLst>
      <p:ext uri="{BB962C8B-B14F-4D97-AF65-F5344CB8AC3E}">
        <p14:creationId xmlns:p14="http://schemas.microsoft.com/office/powerpoint/2010/main" val="644006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ctrTitle"/>
          </p:nvPr>
        </p:nvSpPr>
        <p:spPr>
          <a:xfrm>
            <a:off x="843679" y="193040"/>
            <a:ext cx="7766936" cy="785199"/>
          </a:xfrm>
        </p:spPr>
        <p:txBody>
          <a:bodyPr>
            <a:normAutofit/>
          </a:bodyPr>
          <a:lstStyle/>
          <a:p>
            <a:pPr algn="l"/>
            <a:r>
              <a:rPr lang="en-IN" sz="4000" dirty="0"/>
              <a:t>Future scope</a:t>
            </a:r>
          </a:p>
        </p:txBody>
      </p:sp>
      <p:sp>
        <p:nvSpPr>
          <p:cNvPr id="2" name="Subtitle 1">
            <a:extLst>
              <a:ext uri="{FF2B5EF4-FFF2-40B4-BE49-F238E27FC236}">
                <a16:creationId xmlns:a16="http://schemas.microsoft.com/office/drawing/2014/main" id="{5CE3788C-9ECF-72C1-4128-1FC3B93ED1F9}"/>
              </a:ext>
            </a:extLst>
          </p:cNvPr>
          <p:cNvSpPr>
            <a:spLocks noGrp="1"/>
          </p:cNvSpPr>
          <p:nvPr>
            <p:ph type="subTitle" idx="1"/>
          </p:nvPr>
        </p:nvSpPr>
        <p:spPr>
          <a:xfrm>
            <a:off x="843679" y="1164198"/>
            <a:ext cx="7766936" cy="4878014"/>
          </a:xfrm>
        </p:spPr>
        <p:txBody>
          <a:bodyPr>
            <a:normAutofit/>
          </a:bodyPr>
          <a:lstStyle/>
          <a:p>
            <a:pPr algn="just"/>
            <a:r>
              <a:rPr lang="en-IN" dirty="0"/>
              <a:t>The project can be further enhanced by developing an </a:t>
            </a:r>
            <a:r>
              <a:rPr lang="en-IN" b="1" dirty="0"/>
              <a:t>interactive agricultural decision-support system</a:t>
            </a:r>
            <a:r>
              <a:rPr lang="en-IN" dirty="0"/>
              <a:t> that provides real-time insights and recommendations to farmers and agricultural planners. Future improvements could include integrating </a:t>
            </a:r>
            <a:r>
              <a:rPr lang="en-IN" b="1" dirty="0"/>
              <a:t>real-time weather and rainfall data, soil and satellite data, market prices, and crop-specific information</a:t>
            </a:r>
            <a:r>
              <a:rPr lang="en-IN" dirty="0"/>
              <a:t> to improve the accuracy of seasonal predictions. Machine learning models could also be developed to predict </a:t>
            </a:r>
            <a:r>
              <a:rPr lang="en-IN" b="1" dirty="0"/>
              <a:t>crop yield, profitability, disease/pest risk, and water requirements</a:t>
            </a:r>
            <a:r>
              <a:rPr lang="en-IN" dirty="0"/>
              <a:t> for different crops and seasons. The system could eventually be converted into a </a:t>
            </a:r>
            <a:r>
              <a:rPr lang="en-IN" b="1" dirty="0"/>
              <a:t>web or mobile application</a:t>
            </a:r>
            <a:r>
              <a:rPr lang="en-IN" dirty="0"/>
              <a:t> with personalized recommendations based on a farm's location, crop, soil conditions, and available resources.</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https://github.com/sathvikk0124/Seasonal-Agriculture-Performance-Analysis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5ACB028-05C2-B3BA-B6CE-C78AEBACFEC3}"/>
              </a:ext>
            </a:extLst>
          </p:cNvPr>
          <p:cNvPicPr>
            <a:picLocks noChangeAspect="1"/>
          </p:cNvPicPr>
          <p:nvPr/>
        </p:nvPicPr>
        <p:blipFill>
          <a:blip r:embed="rId3"/>
          <a:stretch>
            <a:fillRect/>
          </a:stretch>
        </p:blipFill>
        <p:spPr>
          <a:xfrm>
            <a:off x="1201105" y="1373016"/>
            <a:ext cx="7593271" cy="536844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1379</TotalTime>
  <Words>829</Words>
  <Application>Microsoft Office PowerPoint</Application>
  <PresentationFormat>Widescreen</PresentationFormat>
  <Paragraphs>39</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 Seasonal_Agriculture_Performance</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vt:lpstr>
      <vt:lpstr>RESULTS</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Sathvik K</cp:lastModifiedBy>
  <cp:revision>100</cp:revision>
  <dcterms:created xsi:type="dcterms:W3CDTF">2021-07-11T13:13:15Z</dcterms:created>
  <dcterms:modified xsi:type="dcterms:W3CDTF">2026-09-10T11:28:40Z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